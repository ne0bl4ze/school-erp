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F740C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457200"/>
            <a:ext cx="5486400" cy="4572000"/>
          </a:xfrm>
          <a:prstGeom prst="ellipse">
            <a:avLst/>
          </a:prstGeom>
          <a:solidFill>
            <a:srgbClr val="1A080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2011680"/>
            <a:ext cx="1097280" cy="1097280"/>
          </a:xfrm>
          <a:prstGeom prst="rect">
            <a:avLst>
              <a:gd name="adj" fmla="val 12500"/>
            </a:avLst>
          </a:prstGeom>
          <a:solidFill>
            <a:srgbClr val="DF740C"/>
          </a:solidFill>
          <a:ln w="12700">
            <a:solidFill>
              <a:srgbClr val="DF74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0" y="21031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0" y="3200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Portal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PROJECT PRESENTATION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ERP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 for managing school operations —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grades, fees, timetables, and more.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526280"/>
            <a:ext cx="772668" cy="237744"/>
          </a:xfrm>
          <a:prstGeom prst="rect">
            <a:avLst>
              <a:gd name="adj" fmla="val 50000"/>
            </a:avLst>
          </a:prstGeom>
          <a:solidFill>
            <a:srgbClr val="1A0800"/>
          </a:solidFill>
          <a:ln w="6350">
            <a:solidFill>
              <a:srgbClr val="DF74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562856"/>
            <a:ext cx="6355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367028" y="4526280"/>
            <a:ext cx="1005840" cy="237744"/>
          </a:xfrm>
          <a:prstGeom prst="rect">
            <a:avLst>
              <a:gd name="adj" fmla="val 50000"/>
            </a:avLst>
          </a:prstGeom>
          <a:solidFill>
            <a:srgbClr val="0A1220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58468" y="456285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510028" y="4526280"/>
            <a:ext cx="850392" cy="237744"/>
          </a:xfrm>
          <a:prstGeom prst="rect">
            <a:avLst>
              <a:gd name="adj" fmla="val 50000"/>
            </a:avLst>
          </a:prstGeom>
          <a:solidFill>
            <a:srgbClr val="091A0E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1468" y="4562856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JS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97580" y="4526280"/>
            <a:ext cx="772668" cy="237744"/>
          </a:xfrm>
          <a:prstGeom prst="rect">
            <a:avLst>
              <a:gd name="adj" fmla="val 50000"/>
            </a:avLst>
          </a:prstGeom>
          <a:solidFill>
            <a:srgbClr val="1A0800"/>
          </a:solidFill>
          <a:ln w="6350">
            <a:solidFill>
              <a:srgbClr val="DF74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89020" y="4562856"/>
            <a:ext cx="6355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407408" y="4526280"/>
            <a:ext cx="1705356" cy="237744"/>
          </a:xfrm>
          <a:prstGeom prst="rect">
            <a:avLst>
              <a:gd name="adj" fmla="val 50000"/>
            </a:avLst>
          </a:prstGeom>
          <a:solidFill>
            <a:srgbClr val="0F0A1A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8848" y="4562856"/>
            <a:ext cx="15681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PDFKit · Nodemailer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F74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47120" y="182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</a:t>
            </a:r>
            <a:pPr indent="0" marL="0">
              <a:buNone/>
            </a:pPr>
            <a:r>
              <a:rPr lang="en-US" sz="28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members — each owning a distinct layer of the system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148840" cy="3566160"/>
          </a:xfrm>
          <a:prstGeom prst="rect">
            <a:avLst>
              <a:gd name="adj" fmla="val 5106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600200"/>
            <a:ext cx="685800" cy="685800"/>
          </a:xfrm>
          <a:prstGeom prst="rect">
            <a:avLst>
              <a:gd name="adj" fmla="val 13333"/>
            </a:avLst>
          </a:prstGeom>
          <a:solidFill>
            <a:srgbClr val="DF740C"/>
          </a:solidFill>
          <a:ln w="12700">
            <a:solidFill>
              <a:srgbClr val="B85E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67335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239572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670048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971800"/>
            <a:ext cx="187452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632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Project architecture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System design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7033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Integration &amp; testing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97480" y="1417320"/>
            <a:ext cx="2148840" cy="3566160"/>
          </a:xfrm>
          <a:prstGeom prst="rect">
            <a:avLst>
              <a:gd name="adj" fmla="val 5106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1600200"/>
            <a:ext cx="685800" cy="685800"/>
          </a:xfrm>
          <a:prstGeom prst="rect">
            <a:avLst>
              <a:gd name="adj" fmla="val 13333"/>
            </a:avLst>
          </a:prstGeom>
          <a:solidFill>
            <a:srgbClr val="DF740C"/>
          </a:solidFill>
          <a:ln w="12700">
            <a:solidFill>
              <a:srgbClr val="B85E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167335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697480" y="239572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97480" y="2670048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34640" y="2971800"/>
            <a:ext cx="187452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0360" y="30632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components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880360" y="33832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UI/UX design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880360" y="37033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Routing &amp; auth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0" y="1417320"/>
            <a:ext cx="2148840" cy="3566160"/>
          </a:xfrm>
          <a:prstGeom prst="rect">
            <a:avLst>
              <a:gd name="adj" fmla="val 5106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0" y="1600200"/>
            <a:ext cx="685800" cy="685800"/>
          </a:xfrm>
          <a:prstGeom prst="rect">
            <a:avLst>
              <a:gd name="adj" fmla="val 13333"/>
            </a:avLst>
          </a:prstGeom>
          <a:solidFill>
            <a:srgbClr val="DF740C"/>
          </a:solidFill>
          <a:ln w="12700">
            <a:solidFill>
              <a:srgbClr val="B85E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167335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029200" y="239572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2670048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166360" y="2971800"/>
            <a:ext cx="187452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30632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Express.js APIs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12080" y="33832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RBAC middleware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12080" y="37033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Route handling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360920" y="1417320"/>
            <a:ext cx="2148840" cy="3566160"/>
          </a:xfrm>
          <a:prstGeom prst="rect">
            <a:avLst>
              <a:gd name="adj" fmla="val 5106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92440" y="1600200"/>
            <a:ext cx="685800" cy="685800"/>
          </a:xfrm>
          <a:prstGeom prst="rect">
            <a:avLst>
              <a:gd name="adj" fmla="val 13333"/>
            </a:avLst>
          </a:prstGeom>
          <a:solidFill>
            <a:srgbClr val="DF740C"/>
          </a:solidFill>
          <a:ln w="12700">
            <a:solidFill>
              <a:srgbClr val="B85E0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92440" y="167335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360920" y="239572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60920" y="2670048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Engineer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498080" y="2971800"/>
            <a:ext cx="187452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43800" y="30632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MongoDB schemas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543800" y="33832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 modelling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543800" y="37033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Query design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692640" y="1417320"/>
            <a:ext cx="2148840" cy="3566160"/>
          </a:xfrm>
          <a:prstGeom prst="rect">
            <a:avLst>
              <a:gd name="adj" fmla="val 5106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424160" y="1600200"/>
            <a:ext cx="685800" cy="685800"/>
          </a:xfrm>
          <a:prstGeom prst="rect">
            <a:avLst>
              <a:gd name="adj" fmla="val 13333"/>
            </a:avLst>
          </a:prstGeom>
          <a:solidFill>
            <a:srgbClr val="DF740C"/>
          </a:solidFill>
          <a:ln w="12700">
            <a:solidFill>
              <a:srgbClr val="B85E0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424160" y="167335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9692640" y="239572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692640" y="2670048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DevOps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829800" y="2971800"/>
            <a:ext cx="187452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875520" y="30632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PDF generation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875520" y="33832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Email alerts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875520" y="37033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Deployment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F74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47120" y="182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 school need an </a:t>
            </a:r>
            <a:pPr indent="0" marL="0">
              <a:buNone/>
            </a:pPr>
            <a:r>
              <a:rPr lang="en-US" sz="24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schools manage registers, grade sheets, and fees manually — leading to errors, delays, and no real-time visibility.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5760720" cy="347472"/>
          </a:xfrm>
          <a:prstGeom prst="rect">
            <a:avLst>
              <a:gd name="adj" fmla="val 31579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709928"/>
            <a:ext cx="5257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attendance registers — error-prone and hard to audit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5760720" cy="347472"/>
          </a:xfrm>
          <a:prstGeom prst="rect">
            <a:avLst>
              <a:gd name="adj" fmla="val 31579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2140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139696"/>
            <a:ext cx="5257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tracking via spreadsheets — no payment history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487168"/>
            <a:ext cx="5760720" cy="347472"/>
          </a:xfrm>
          <a:prstGeom prst="rect">
            <a:avLst>
              <a:gd name="adj" fmla="val 31579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511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569464"/>
            <a:ext cx="5257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cards printed manually — time consuming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16936"/>
            <a:ext cx="5760720" cy="347472"/>
          </a:xfrm>
          <a:prstGeom prst="rect">
            <a:avLst>
              <a:gd name="adj" fmla="val 31579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809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2999232"/>
            <a:ext cx="5257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have no real-time updates on their child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346704"/>
            <a:ext cx="5760720" cy="347472"/>
          </a:xfrm>
          <a:prstGeom prst="rect">
            <a:avLst>
              <a:gd name="adj" fmla="val 31579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1071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3429000"/>
            <a:ext cx="5257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centralised platform for notices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55080" y="1188720"/>
            <a:ext cx="5486400" cy="1097280"/>
          </a:xfrm>
          <a:prstGeom prst="rect">
            <a:avLst>
              <a:gd name="adj" fmla="val 10000"/>
            </a:avLst>
          </a:prstGeom>
          <a:solidFill>
            <a:srgbClr val="111111"/>
          </a:solidFill>
          <a:ln w="9525">
            <a:solidFill>
              <a:srgbClr val="DF74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1298448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WEB PLATFORM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92240" y="1536192"/>
            <a:ext cx="5166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 for students, teachers, and admins — each seeing only what their role permits.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55080" y="2404872"/>
            <a:ext cx="5486400" cy="914400"/>
          </a:xfrm>
          <a:prstGeom prst="rect">
            <a:avLst>
              <a:gd name="adj" fmla="val 12000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52374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92240" y="274320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marked instantly, grades visible immediately, fees tracked with full transaction history.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55080" y="3410712"/>
            <a:ext cx="5486400" cy="914400"/>
          </a:xfrm>
          <a:prstGeom prst="rect">
            <a:avLst>
              <a:gd name="adj" fmla="val 12000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352958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92240" y="374904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get email alerts for low attendance, fee confirmation, and leave decisions — via Nodemailer.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55080" y="4416552"/>
            <a:ext cx="5486400" cy="914400"/>
          </a:xfrm>
          <a:prstGeom prst="rect">
            <a:avLst>
              <a:gd name="adj" fmla="val 12000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453542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92240" y="475488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PDF types: Report Card, Fee Receipt, Timetable — downloadable any time via PDFKit.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F74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47120" y="182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28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148840" cy="2926080"/>
          </a:xfrm>
          <a:prstGeom prst="rect">
            <a:avLst>
              <a:gd name="adj" fmla="val 5106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02996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404872"/>
            <a:ext cx="187452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96312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records, timetables, attendance logs, fee transactions, grade documents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97480" y="1325880"/>
            <a:ext cx="2148840" cy="2926080"/>
          </a:xfrm>
          <a:prstGeom prst="rect">
            <a:avLst>
              <a:gd name="adj" fmla="val 5106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5087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97480" y="202996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34640" y="2404872"/>
            <a:ext cx="187452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2496312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Multi-role REST APIs for all ERP modules with strict RBAC middleware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0" y="1325880"/>
            <a:ext cx="2148840" cy="2926080"/>
          </a:xfrm>
          <a:prstGeom prst="rect">
            <a:avLst>
              <a:gd name="adj" fmla="val 5106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5087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029200" y="202996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JS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166360" y="2404872"/>
            <a:ext cx="187452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2496312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dashboards including attendance marking and grade entry forms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60920" y="1325880"/>
            <a:ext cx="2148840" cy="2926080"/>
          </a:xfrm>
          <a:prstGeom prst="rect">
            <a:avLst>
              <a:gd name="adj" fmla="val 5106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15087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60920" y="202996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98080" y="2404872"/>
            <a:ext cx="187452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2496312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PDFKit for report card generation and Nodemailer for parent email alerts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692640" y="1325880"/>
            <a:ext cx="2148840" cy="2926080"/>
          </a:xfrm>
          <a:prstGeom prst="rect">
            <a:avLst>
              <a:gd name="adj" fmla="val 5106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0" y="15087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692640" y="202996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829800" y="2404872"/>
            <a:ext cx="187452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29800" y="2496312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Vite, React Router v6, Axios, JWT, bcryptjs, Mongoose ODM, Nodemon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4434840"/>
            <a:ext cx="11457432" cy="822960"/>
          </a:xfrm>
          <a:prstGeom prst="rect">
            <a:avLst>
              <a:gd name="adj" fmla="val 11111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44348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914400" y="50292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MODELS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606040" y="4617720"/>
            <a:ext cx="9144" cy="4572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0" y="44348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3108960" y="50292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800600" y="4617720"/>
            <a:ext cx="9144" cy="4572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0" y="44348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5303520" y="50292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PAGES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995160" y="4617720"/>
            <a:ext cx="9144" cy="4572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0" y="44348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7498080" y="50292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9189720" y="4617720"/>
            <a:ext cx="9144" cy="4572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92640" y="44348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45" name="Text 43"/>
          <p:cNvSpPr/>
          <p:nvPr/>
        </p:nvSpPr>
        <p:spPr>
          <a:xfrm>
            <a:off x="9692640" y="50292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TYPES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F74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47120" y="182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</a:t>
            </a:r>
            <a:pPr indent="0" marL="0">
              <a:buNone/>
            </a:pPr>
            <a:r>
              <a:rPr lang="en-US" sz="28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3566160" cy="2194560"/>
          </a:xfrm>
          <a:prstGeom prst="rect">
            <a:avLst>
              <a:gd name="adj" fmla="val 5000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44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 React Frontend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64792"/>
            <a:ext cx="329184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745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Vite + React Router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2128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Axios HTTP Client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55117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Context API (Auth)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88950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CSS Modules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51960" y="1280160"/>
            <a:ext cx="3566160" cy="2194560"/>
          </a:xfrm>
          <a:prstGeom prst="rect">
            <a:avLst>
              <a:gd name="adj" fmla="val 5000"/>
            </a:avLst>
          </a:prstGeom>
          <a:solidFill>
            <a:srgbClr val="111111"/>
          </a:solidFill>
          <a:ln w="9525">
            <a:solidFill>
              <a:srgbClr val="DF74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444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Express Backend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9120" y="1764792"/>
            <a:ext cx="329184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18745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JWT Auth Middleware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34840" y="22128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RBAC Role Guard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34840" y="255117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REST API Routes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34840" y="288950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PDFKit · Nodemailer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38160" y="1280160"/>
            <a:ext cx="3566160" cy="2194560"/>
          </a:xfrm>
          <a:prstGeom prst="rect">
            <a:avLst>
              <a:gd name="adj" fmla="val 5000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1444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  MongoDB Atlas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75320" y="1764792"/>
            <a:ext cx="329184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18745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Mongoose ODM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21040" y="22128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10 Schemas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21040" y="255117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Indexes &amp; Relations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21040" y="288950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Aggregation Pipelines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7764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86384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365760" y="3703320"/>
            <a:ext cx="3749040" cy="2103120"/>
          </a:xfrm>
          <a:prstGeom prst="rect">
            <a:avLst>
              <a:gd name="adj" fmla="val 4348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8221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FLOW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48640" y="40965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User submits email + password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444398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bcrypt verifies against DB hash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479145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JWT signed &amp; returned to client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51389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Stored in localStorage, sent as Bearer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315968" y="3703320"/>
            <a:ext cx="3749040" cy="2103120"/>
          </a:xfrm>
          <a:prstGeom prst="rect">
            <a:avLst>
              <a:gd name="adj" fmla="val 4348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53128" y="38221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FLOW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498848" y="40965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JWT decoded → user role extracted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498848" y="444398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allow() middleware checks role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498848" y="479145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Student: read own data only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498848" y="51389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Teacher: mark attendance &amp; grades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266176" y="3703320"/>
            <a:ext cx="3749040" cy="2103120"/>
          </a:xfrm>
          <a:prstGeom prst="rect">
            <a:avLst>
              <a:gd name="adj" fmla="val 4348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03336" y="38221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449056" y="40965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page calls api.js (Axios)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449056" y="444398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Express route handles request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449056" y="479145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Controller queries via Mongoose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449056" y="51389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JSON response rendered in React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F74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47120" y="182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</a:t>
            </a:r>
            <a:pPr indent="0" marL="0">
              <a:buNone/>
            </a:pPr>
            <a:r>
              <a:rPr lang="en-US" sz="28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React 18 · React Router v6 · Axios · CSS Modules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623560" cy="1828800"/>
          </a:xfrm>
          <a:prstGeom prst="rect">
            <a:avLst>
              <a:gd name="adj" fmla="val 6000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9047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STRUCTURE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5623560" cy="1325880"/>
          </a:xfrm>
          <a:prstGeom prst="rect">
            <a:avLst>
              <a:gd name="adj" fmla="val 6897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47088"/>
            <a:ext cx="5349240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D0D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client/src/
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App.jsx          ← Router + protected routes
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context/AuthContext.jsx  ← global auth state
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services/api.js  ← Axios instance + interceptors
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D0D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components/Layout/
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D0D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Header.jsx   Sidebar.jsx   SubNav.jsx
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pages/           ← 13 route pages
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3200400"/>
            <a:ext cx="5623560" cy="1783080"/>
          </a:xfrm>
          <a:prstGeom prst="rect">
            <a:avLst>
              <a:gd name="adj" fmla="val 6154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31927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ROUTING CODE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5760" y="3547872"/>
            <a:ext cx="5623560" cy="1325880"/>
          </a:xfrm>
          <a:prstGeom prst="rect">
            <a:avLst>
              <a:gd name="adj" fmla="val 6897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657600"/>
            <a:ext cx="5349240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PrivateRoute({ children }) {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user, loading } = useAuth();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(loading) return &lt;Spinner /&gt;;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user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children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&lt;Navigate to="/login" replace /&gt;;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72200" y="1371600"/>
            <a:ext cx="5650992" cy="1828800"/>
          </a:xfrm>
          <a:prstGeom prst="rect">
            <a:avLst>
              <a:gd name="adj" fmla="val 6000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49047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PAGES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309360" y="1737360"/>
            <a:ext cx="2468880" cy="201168"/>
          </a:xfrm>
          <a:prstGeom prst="rect">
            <a:avLst>
              <a:gd name="adj" fmla="val 45455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77393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09360" y="1975104"/>
            <a:ext cx="2468880" cy="201168"/>
          </a:xfrm>
          <a:prstGeom prst="rect">
            <a:avLst>
              <a:gd name="adj" fmla="val 45455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0116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09360" y="2212848"/>
            <a:ext cx="2468880" cy="201168"/>
          </a:xfrm>
          <a:prstGeom prst="rect">
            <a:avLst>
              <a:gd name="adj" fmla="val 45455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224942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09360" y="2450592"/>
            <a:ext cx="2468880" cy="201168"/>
          </a:xfrm>
          <a:prstGeom prst="rect">
            <a:avLst>
              <a:gd name="adj" fmla="val 45455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4871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Card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09360" y="2688336"/>
            <a:ext cx="2468880" cy="201168"/>
          </a:xfrm>
          <a:prstGeom prst="rect">
            <a:avLst>
              <a:gd name="adj" fmla="val 45455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72491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09360" y="2926080"/>
            <a:ext cx="2468880" cy="201168"/>
          </a:xfrm>
          <a:prstGeom prst="rect">
            <a:avLst>
              <a:gd name="adj" fmla="val 45455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96265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3163824"/>
            <a:ext cx="2468880" cy="201168"/>
          </a:xfrm>
          <a:prstGeom prst="rect">
            <a:avLst>
              <a:gd name="adj" fmla="val 45455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320040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961120" y="1737360"/>
            <a:ext cx="2468880" cy="201168"/>
          </a:xfrm>
          <a:prstGeom prst="rect">
            <a:avLst>
              <a:gd name="adj" fmla="val 45455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52560" y="177393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961120" y="1975104"/>
            <a:ext cx="2468880" cy="201168"/>
          </a:xfrm>
          <a:prstGeom prst="rect">
            <a:avLst>
              <a:gd name="adj" fmla="val 45455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0" y="20116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61120" y="2212848"/>
            <a:ext cx="2468880" cy="201168"/>
          </a:xfrm>
          <a:prstGeom prst="rect">
            <a:avLst>
              <a:gd name="adj" fmla="val 45455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52560" y="224942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961120" y="2450592"/>
            <a:ext cx="2468880" cy="201168"/>
          </a:xfrm>
          <a:prstGeom prst="rect">
            <a:avLst>
              <a:gd name="adj" fmla="val 45455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52560" y="24871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Teacher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961120" y="2688336"/>
            <a:ext cx="2468880" cy="201168"/>
          </a:xfrm>
          <a:prstGeom prst="rect">
            <a:avLst>
              <a:gd name="adj" fmla="val 45455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52560" y="272491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961120" y="2926080"/>
            <a:ext cx="2468880" cy="201168"/>
          </a:xfrm>
          <a:prstGeom prst="rect">
            <a:avLst>
              <a:gd name="adj" fmla="val 45455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52560" y="296265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Blog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72200" y="3200400"/>
            <a:ext cx="5650992" cy="1783080"/>
          </a:xfrm>
          <a:prstGeom prst="rect">
            <a:avLst>
              <a:gd name="adj" fmla="val 6154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331927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INTERCEPTOR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172200" y="3547872"/>
            <a:ext cx="5650992" cy="1325880"/>
          </a:xfrm>
          <a:prstGeom prst="rect">
            <a:avLst>
              <a:gd name="adj" fmla="val 6897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3657600"/>
            <a:ext cx="5376672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Attach JWT to every request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api.interceptors.request.use(cfg =&gt; {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token = localStorage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.getItem('erp_token');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(token)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cfg.headers.Authorization =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`Bearer ${token}`;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cfg;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F74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KEY PAGES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47120" y="182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</a:t>
            </a:r>
            <a:pPr indent="0" marL="0">
              <a:buNone/>
            </a:pPr>
            <a:r>
              <a:rPr lang="en-US" sz="28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5669280" cy="2395728"/>
          </a:xfrm>
          <a:prstGeom prst="rect">
            <a:avLst>
              <a:gd name="adj" fmla="val 4580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0817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755648"/>
            <a:ext cx="2697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5 live stat cards (notices, attendance, subjects, grade, section)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2048256"/>
            <a:ext cx="2697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Today's periods fetched from timetable API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340864"/>
            <a:ext cx="2697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Notice board with inline comment submission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37560" y="1755648"/>
            <a:ext cx="2560320" cy="1280160"/>
          </a:xfrm>
          <a:prstGeom prst="rect">
            <a:avLst>
              <a:gd name="adj" fmla="val 7143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865376"/>
            <a:ext cx="228600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api.get('/timetable/my').then(...);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api.get('/announcements').then(...);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api.get('/attendance/my').then(...);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[]);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63640" y="1280160"/>
            <a:ext cx="5669280" cy="2395728"/>
          </a:xfrm>
          <a:prstGeom prst="rect">
            <a:avLst>
              <a:gd name="adj" fmla="val 4580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40817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Attendance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1755648"/>
            <a:ext cx="2697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Student view: per-subject % with colour-coded progress bars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46520" y="2048256"/>
            <a:ext cx="2697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Teacher view: mark present / absent / late per student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46520" y="2340864"/>
            <a:ext cx="2697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Uses role-conditional render — same route, different UI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235440" y="1755648"/>
            <a:ext cx="2560320" cy="1280160"/>
          </a:xfrm>
          <a:prstGeom prst="rect">
            <a:avLst>
              <a:gd name="adj" fmla="val 7143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2600" y="1865376"/>
            <a:ext cx="228600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Role-conditional render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(user.role === 'student')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&lt;StudentView /&gt;;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&lt;TeacherMarkingView /&gt;;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5669280" cy="2395728"/>
          </a:xfrm>
          <a:prstGeom prst="rect">
            <a:avLst>
              <a:gd name="adj" fmla="val 4580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2277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Report Card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270248"/>
            <a:ext cx="2697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Term 1, Term 2, Final Exam, Practical columns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562856"/>
            <a:ext cx="2697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Auto-calculated average % and letter grade (A+ to F)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4855464"/>
            <a:ext cx="2697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One-click PDF download via Node.js PDFKit backend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37560" y="4270248"/>
            <a:ext cx="2560320" cy="1280160"/>
          </a:xfrm>
          <a:prstGeom prst="rect">
            <a:avLst>
              <a:gd name="adj" fmla="val 7143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4379976"/>
            <a:ext cx="228600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download = (year) =&gt;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window.open(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`/api/pdf/report-card/${year}`,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'_blank'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63640" y="3794760"/>
            <a:ext cx="5669280" cy="2395728"/>
          </a:xfrm>
          <a:prstGeom prst="rect">
            <a:avLst>
              <a:gd name="adj" fmla="val 4580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92277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Fees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46520" y="4270248"/>
            <a:ext cx="2697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Term-wise breakdown: tuition, hostel, exam fees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46520" y="4562856"/>
            <a:ext cx="2697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Payment status badges: paid / partial / unpaid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46520" y="4855464"/>
            <a:ext cx="2697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Full transaction history + downloadable PDF receipt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235440" y="4270248"/>
            <a:ext cx="2560320" cy="1280160"/>
          </a:xfrm>
          <a:prstGeom prst="rect">
            <a:avLst>
              <a:gd name="adj" fmla="val 7143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72600" y="4379976"/>
            <a:ext cx="228600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Summary computed from fee records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total  = fees.reduce((a,f)=&gt;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 + f.totalAmount, 0);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balance = total - paid;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F74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47120" y="182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</a:t>
            </a:r>
            <a:pPr indent="0" marL="0">
              <a:buNone/>
            </a:pPr>
            <a:r>
              <a:rPr lang="en-US" sz="28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with JWT authentication and role-based access control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251960" cy="3749040"/>
          </a:xfrm>
          <a:prstGeom prst="rect">
            <a:avLst>
              <a:gd name="adj" fmla="val 2927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904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18013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7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68880" y="18013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POST login, register, GET 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1488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7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/api/students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68880" y="2148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CRUD student profiles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4963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7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/api/timetable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68880" y="24963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GET class timetable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28437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7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/api/attendance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68880" y="28437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Mark + view attendance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319125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7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/api/grades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68880" y="31912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Enter + view grades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538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7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/api/fees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68880" y="3538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Fee records + payments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38862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7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/api/leave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68880" y="38862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Apply + review leave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42336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7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/api/library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68880" y="42336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Books + issue/return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45811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7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/api/pdf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68880" y="45811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Report card, receipt, timetable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1371600"/>
            <a:ext cx="7040880" cy="1828800"/>
          </a:xfrm>
          <a:prstGeom prst="rect">
            <a:avLst>
              <a:gd name="adj" fmla="val 6000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490472"/>
            <a:ext cx="6766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MIDDLEWARE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800600" y="1719072"/>
            <a:ext cx="7040880" cy="1371600"/>
          </a:xfrm>
          <a:prstGeom prst="rect">
            <a:avLst>
              <a:gd name="adj" fmla="val 6667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1828800"/>
            <a:ext cx="676656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protect = async (req, res, next) =&gt; {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token = req.headers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.authorization?.split(' ')[1];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decoded = jwt.verify(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token, process.env.JWT_SECRET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req.user = await User.findById(decoded.id);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next();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00600" y="3310128"/>
            <a:ext cx="7040880" cy="1828800"/>
          </a:xfrm>
          <a:prstGeom prst="rect">
            <a:avLst>
              <a:gd name="adj" fmla="val 6000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429000"/>
            <a:ext cx="6766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MIDDLEWARE — allow(...roles)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800600" y="3657600"/>
            <a:ext cx="7040880" cy="1463040"/>
          </a:xfrm>
          <a:prstGeom prst="rect">
            <a:avLst>
              <a:gd name="adj" fmla="val 6250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767328"/>
            <a:ext cx="676656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allow = (...roles) =&gt; (req, res, next) =&gt; {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(!roles.includes(req.user.role))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res.status(403).json({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message: 'Access denied'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next();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Applied on routes: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router.post('/mark', protect,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allow('teacher', 'admin'), ctrl);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F74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47120" y="182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</a:t>
            </a:r>
            <a:pPr indent="0" marL="0">
              <a:buNone/>
            </a:pPr>
            <a:r>
              <a:rPr lang="en-US" sz="28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Mongoose models with relationships, indexes, and pre-save hooks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1051560" cy="384048"/>
          </a:xfrm>
          <a:prstGeom prst="rect">
            <a:avLst>
              <a:gd name="adj" fmla="val 28571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17904" y="1371600"/>
            <a:ext cx="1051560" cy="384048"/>
          </a:xfrm>
          <a:prstGeom prst="rect">
            <a:avLst>
              <a:gd name="adj" fmla="val 28571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17904" y="146304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70048" y="1371600"/>
            <a:ext cx="1051560" cy="384048"/>
          </a:xfrm>
          <a:prstGeom prst="rect">
            <a:avLst>
              <a:gd name="adj" fmla="val 28571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0048" y="146304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22192" y="1371600"/>
            <a:ext cx="1051560" cy="384048"/>
          </a:xfrm>
          <a:prstGeom prst="rect">
            <a:avLst>
              <a:gd name="adj" fmla="val 28571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22192" y="146304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74336" y="1371600"/>
            <a:ext cx="1051560" cy="384048"/>
          </a:xfrm>
          <a:prstGeom prst="rect">
            <a:avLst>
              <a:gd name="adj" fmla="val 28571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74336" y="146304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1051560" cy="384048"/>
          </a:xfrm>
          <a:prstGeom prst="rect">
            <a:avLst>
              <a:gd name="adj" fmla="val 28571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46304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78624" y="1371600"/>
            <a:ext cx="1051560" cy="384048"/>
          </a:xfrm>
          <a:prstGeom prst="rect">
            <a:avLst>
              <a:gd name="adj" fmla="val 28571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78624" y="146304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430768" y="1371600"/>
            <a:ext cx="1051560" cy="384048"/>
          </a:xfrm>
          <a:prstGeom prst="rect">
            <a:avLst>
              <a:gd name="adj" fmla="val 28571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30768" y="146304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82912" y="1371600"/>
            <a:ext cx="1051560" cy="384048"/>
          </a:xfrm>
          <a:prstGeom prst="rect">
            <a:avLst>
              <a:gd name="adj" fmla="val 28571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82912" y="146304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735056" y="1371600"/>
            <a:ext cx="1051560" cy="384048"/>
          </a:xfrm>
          <a:prstGeom prst="rect">
            <a:avLst>
              <a:gd name="adj" fmla="val 28571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35056" y="146304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1920240"/>
            <a:ext cx="5623560" cy="3337560"/>
          </a:xfrm>
          <a:prstGeom prst="rect">
            <a:avLst>
              <a:gd name="adj" fmla="val 3288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03911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SCHEMA WITH PRE-SAVE HOOK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65760" y="2286000"/>
            <a:ext cx="5623560" cy="2880360"/>
          </a:xfrm>
          <a:prstGeom prst="rect">
            <a:avLst>
              <a:gd name="adj" fmla="val 3175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395728"/>
            <a:ext cx="5349240" cy="2660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gradeSchema = new Schema({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student:    { type: ObjectId, ref: 'Student' },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course:     { type: ObjectId, ref: 'Course'  },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academicYear: String,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term1:      Number,   // Term 1 marks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term2:      Number,   // Term 2 marks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finalExam:  Number,   // Final exam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practical:  Number,   // Practical / project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percentage: Number,   // Auto-computed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grade:      String,   // A+, A, B+... F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Compute grade automatically before save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gradeSchema.pre('save', function(next) {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avg = mean([term1, term2, finalExam]);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this.grade = avg &gt;= 90 ? 'A+' : avg &gt;= 80 ?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'A' : avg &gt;= 70 ? 'B+' : 'F';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next();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72200" y="1920240"/>
            <a:ext cx="5650992" cy="3337560"/>
          </a:xfrm>
          <a:prstGeom prst="rect">
            <a:avLst>
              <a:gd name="adj" fmla="val 3288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03911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— BULK UPSERT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172200" y="2286000"/>
            <a:ext cx="5650992" cy="2880360"/>
          </a:xfrm>
          <a:prstGeom prst="rect">
            <a:avLst>
              <a:gd name="adj" fmla="val 3175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2395728"/>
            <a:ext cx="5376672" cy="2660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Upsert whole class in one DB round-trip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ops = records.map(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({ studentId, status }) =&gt; ({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updateOne: {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filter: {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student: studentId,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course:  courseId,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date:    date,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},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update: { $set: { status } },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upsert: true,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Attendance.bulkWrite(ops);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F74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47120" y="182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Generation &amp; </a:t>
            </a:r>
            <a:pPr indent="0" marL="0">
              <a:buNone/>
            </a:pPr>
            <a:r>
              <a:rPr lang="en-US" sz="28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623560" cy="3931920"/>
          </a:xfrm>
          <a:prstGeom prst="rect">
            <a:avLst>
              <a:gd name="adj" fmla="val 2791"/>
            </a:avLst>
          </a:prstGeom>
          <a:solidFill>
            <a:srgbClr val="111111"/>
          </a:solidFill>
          <a:ln w="9525">
            <a:solidFill>
              <a:srgbClr val="DF74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PDFKit — 3 Document Types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Report Card — term marks, average %, letter grade, per academic year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167128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Fee Receipt — tuition/hostel/exam breakdown, payment status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Timetable — landscape 5-day period grid, branded header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5623560" cy="2176272"/>
          </a:xfrm>
          <a:prstGeom prst="rect">
            <a:avLst>
              <a:gd name="adj" fmla="val 4202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35808"/>
            <a:ext cx="5349240" cy="1956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doc = new PDFDocument({ size: 'A4' });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res.setHeader('Content-Type','application/pdf');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doc.pipe(res); // stream directly to browser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Branded header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doc.rect(0,0,width,60).fill('#000000');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doc.fillColor('#DF740C').text('ERP',40,18);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Grade table rows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grades.forEach((g, i) =&gt; {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doc.text(g.course.name, cols[1], y+6);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doc.text(g.term1, cols[2], y+6);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 += 22;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doc.end();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325880"/>
            <a:ext cx="5650992" cy="3931920"/>
          </a:xfrm>
          <a:prstGeom prst="rect">
            <a:avLst>
              <a:gd name="adj" fmla="val 2791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463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Nodemailer — 3 Alert Types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847088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Fee confirmation → parent when fee fully paid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2167128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Attendance alert → parent when below 75%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2487168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Leave update → parent on approval / rejection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2926080"/>
            <a:ext cx="5650992" cy="2176272"/>
          </a:xfrm>
          <a:prstGeom prst="rect">
            <a:avLst>
              <a:gd name="adj" fmla="val 4202"/>
            </a:avLst>
          </a:prstGeom>
          <a:solidFill>
            <a:srgbClr val="0A0A0A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035808"/>
            <a:ext cx="5376672" cy="1956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transporter = nodemailer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.createTransport({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host: process.env.SMTP_HOST,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auth: {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user: process.env.SMTP_USER,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pass: process.env.SMTP_PASS,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Triggered after fee payment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(fee.status === 'paid')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mailer.sendFeeReceipt(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student.parentEmail, data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F74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47120" y="182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</a:t>
            </a:r>
            <a:pPr indent="0" marL="0">
              <a:buNone/>
            </a:pPr>
            <a:r>
              <a:rPr lang="en-US" sz="28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Types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3749040" cy="4846320"/>
          </a:xfrm>
          <a:prstGeom prst="rect">
            <a:avLst>
              <a:gd name="adj" fmla="val 2927"/>
            </a:avLst>
          </a:prstGeom>
          <a:solidFill>
            <a:srgbClr val="111111"/>
          </a:solidFill>
          <a:ln w="9525">
            <a:solidFill>
              <a:srgbClr val="091A0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25880"/>
            <a:ext cx="374904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36192"/>
            <a:ext cx="502920" cy="502920"/>
          </a:xfrm>
          <a:prstGeom prst="rect">
            <a:avLst>
              <a:gd name="adj" fmla="val 14545"/>
            </a:avLst>
          </a:prstGeom>
          <a:solidFill>
            <a:srgbClr val="091A0E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544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15727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18288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own data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338328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677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View dashboard with live stats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62432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Check per-subject attendance 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98094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View report card &amp; download PDF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3375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See class timetable &amp; syllabus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69417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Track fee payments &amp; history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405079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Apply for leave applications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440740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View library issued books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476402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Read school notices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1325880"/>
            <a:ext cx="3749040" cy="4846320"/>
          </a:xfrm>
          <a:prstGeom prst="rect">
            <a:avLst>
              <a:gd name="adj" fmla="val 2927"/>
            </a:avLst>
          </a:prstGeom>
          <a:solidFill>
            <a:srgbClr val="111111"/>
          </a:solidFill>
          <a:ln w="9525">
            <a:solidFill>
              <a:srgbClr val="1A08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1325880"/>
            <a:ext cx="3749040" cy="45720"/>
          </a:xfrm>
          <a:prstGeom prst="rect">
            <a:avLst/>
          </a:prstGeom>
          <a:solidFill>
            <a:srgbClr val="DF740C"/>
          </a:solidFill>
          <a:ln w="12700">
            <a:solidFill>
              <a:srgbClr val="DF740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1536192"/>
            <a:ext cx="502920" cy="502920"/>
          </a:xfrm>
          <a:prstGeom prst="rect">
            <a:avLst>
              <a:gd name="adj" fmla="val 14545"/>
            </a:avLst>
          </a:prstGeom>
          <a:solidFill>
            <a:srgbClr val="1A0800"/>
          </a:solidFill>
          <a:ln w="9525">
            <a:solidFill>
              <a:srgbClr val="DF74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15544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👩‍🏫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074920" y="15727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74920" y="18288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management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80560" y="2148840"/>
            <a:ext cx="338328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22677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Mark daily attendance per subject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26280" y="262432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Enter term-wise grades for students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26280" y="298094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 school notices &amp; announcements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26280" y="33375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Review &amp; approve leave applications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26280" y="369417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View class-wise student lists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26280" y="405079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Delete own announcements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29600" y="1325880"/>
            <a:ext cx="3749040" cy="4846320"/>
          </a:xfrm>
          <a:prstGeom prst="rect">
            <a:avLst>
              <a:gd name="adj" fmla="val 2927"/>
            </a:avLst>
          </a:prstGeom>
          <a:solidFill>
            <a:srgbClr val="111111"/>
          </a:solidFill>
          <a:ln w="9525">
            <a:solidFill>
              <a:srgbClr val="0A122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66760" y="1325880"/>
            <a:ext cx="37490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0" y="1536192"/>
            <a:ext cx="502920" cy="502920"/>
          </a:xfrm>
          <a:prstGeom prst="rect">
            <a:avLst>
              <a:gd name="adj" fmla="val 14545"/>
            </a:avLst>
          </a:prstGeom>
          <a:solidFill>
            <a:srgbClr val="0A1220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0" y="15544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9006840" y="15727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006840" y="18288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412480" y="2148840"/>
            <a:ext cx="338328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58200" y="22677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Create &amp; manage all user accounts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458200" y="262432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Define subjects &amp; timetables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458200" y="298094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Record fee payments, receipts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458200" y="33375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Issue &amp; return library books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458200" y="369417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Seed initial database data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458200" y="405079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All teacher permissions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458200" y="440740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Update student profiles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458200" y="476402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Full CRUD on all resources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F74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47120" y="182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</a:t>
            </a:r>
            <a:pPr indent="0" marL="0">
              <a:buNone/>
            </a:pPr>
            <a:r>
              <a:rPr lang="en-US" sz="28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394960" cy="1115568"/>
          </a:xfrm>
          <a:prstGeom prst="rect">
            <a:avLst>
              <a:gd name="adj" fmla="val 9836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89320" y="1325880"/>
            <a:ext cx="5852160" cy="1115568"/>
          </a:xfrm>
          <a:prstGeom prst="rect">
            <a:avLst>
              <a:gd name="adj" fmla="val 9836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25880"/>
            <a:ext cx="539496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89320" y="1325880"/>
            <a:ext cx="585216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3560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CHALLENGE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126480" y="1435608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SOLUTION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02920" y="1673352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findOneAndUpdate() bypasses pre('save') hook — seed stored plain-text passwords, breaking all logins.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1673352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seed to use new User({...}).save() which correctly triggers the bcrypt hashing middleware.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77840" y="17373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5394960" cy="1115568"/>
          </a:xfrm>
          <a:prstGeom prst="rect">
            <a:avLst>
              <a:gd name="adj" fmla="val 9836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9320" y="2560320"/>
            <a:ext cx="5852160" cy="1115568"/>
          </a:xfrm>
          <a:prstGeom prst="rect">
            <a:avLst>
              <a:gd name="adj" fmla="val 9836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560320"/>
            <a:ext cx="539496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2560320"/>
            <a:ext cx="585216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67004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CHALLENGE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126480" y="2670048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SOLUTION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02920" y="2907792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model was never require()'d anywhere — populate() failed silently, leaving timetable, syllabus, and grades all empty.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2907792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all 10 model imports to index.js before routes load, ensuring Mongoose registers schemas for populate().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77840" y="297180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65760" y="3794760"/>
            <a:ext cx="5394960" cy="1115568"/>
          </a:xfrm>
          <a:prstGeom prst="rect">
            <a:avLst>
              <a:gd name="adj" fmla="val 9836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9320" y="3794760"/>
            <a:ext cx="5852160" cy="1115568"/>
          </a:xfrm>
          <a:prstGeom prst="rect">
            <a:avLst>
              <a:gd name="adj" fmla="val 9836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794760"/>
            <a:ext cx="539496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3794760"/>
            <a:ext cx="585216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90448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CHALLENGE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126480" y="3904488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SOLUTION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" y="4142232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Vite's dev proxy strips in production builds — all frontend API calls broke after deploying to Railway + Vercel.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4142232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import.meta.env.VITE_API_URL as base URL — falls back to /api in dev, uses Railway URL in production.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77840" y="42062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365760" y="5029200"/>
            <a:ext cx="5394960" cy="1115568"/>
          </a:xfrm>
          <a:prstGeom prst="rect">
            <a:avLst>
              <a:gd name="adj" fmla="val 9836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89320" y="5029200"/>
            <a:ext cx="5852160" cy="1115568"/>
          </a:xfrm>
          <a:prstGeom prst="rect">
            <a:avLst>
              <a:gd name="adj" fmla="val 9836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5029200"/>
            <a:ext cx="539496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89320" y="5029200"/>
            <a:ext cx="585216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513892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CHALLENGE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126480" y="5138928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SOLUTION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02920" y="5376672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AirPlay Receiver permanently holds port 5000 — Express server crashed on every startup attempt.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26480" y="5376672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backend to port 8000 in .env, updated Vite proxy target to match. No system config needed.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77840" y="54406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F74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47120" y="182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</a:t>
            </a:r>
            <a:pPr indent="0" marL="0">
              <a:buNone/>
            </a:pPr>
            <a:r>
              <a:rPr lang="en-US" sz="28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3749040" cy="1965960"/>
          </a:xfrm>
          <a:prstGeom prst="rect">
            <a:avLst>
              <a:gd name="adj" fmla="val 5581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0756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04872"/>
            <a:ext cx="338328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9631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 for parents — real-time push notifications for attendance, grades, and notices.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325880"/>
            <a:ext cx="3749040" cy="1965960"/>
          </a:xfrm>
          <a:prstGeom prst="rect">
            <a:avLst>
              <a:gd name="adj" fmla="val 5581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508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297680" y="20756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Fee Payment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80560" y="2404872"/>
            <a:ext cx="338328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249631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/ Stripe integration so parents can pay fees directly and auto-receive digital receipts.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0" y="1325880"/>
            <a:ext cx="3749040" cy="1965960"/>
          </a:xfrm>
          <a:prstGeom prst="rect">
            <a:avLst>
              <a:gd name="adj" fmla="val 5581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508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229600" y="20756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12480" y="2404872"/>
            <a:ext cx="338328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249631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charts showing attendance trends, subject-wise performance, and fee collection rates.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474720"/>
            <a:ext cx="3749040" cy="1965960"/>
          </a:xfrm>
          <a:prstGeom prst="rect">
            <a:avLst>
              <a:gd name="adj" fmla="val 5581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6576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65760" y="42245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Portal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553712"/>
            <a:ext cx="338328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64515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login for parents to track their child and message the class teacher directly.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97680" y="3474720"/>
            <a:ext cx="3749040" cy="1965960"/>
          </a:xfrm>
          <a:prstGeom prst="rect">
            <a:avLst>
              <a:gd name="adj" fmla="val 5581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36576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297680" y="42245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Exam Portal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480560" y="4553712"/>
            <a:ext cx="338328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464515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and subjective tests online — auto-graded, results pushed instantly to the report card.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29600" y="3474720"/>
            <a:ext cx="3749040" cy="1965960"/>
          </a:xfrm>
          <a:prstGeom prst="rect">
            <a:avLst>
              <a:gd name="adj" fmla="val 5581"/>
            </a:avLst>
          </a:prstGeom>
          <a:solidFill>
            <a:srgbClr val="111111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36576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8229600" y="42245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Alerts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412480" y="4553712"/>
            <a:ext cx="338328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0" y="464515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integration for SMS alerts to parents without email — attendance warnings and results.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F740C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457200"/>
            <a:ext cx="5943600" cy="5029200"/>
          </a:xfrm>
          <a:prstGeom prst="ellipse">
            <a:avLst/>
          </a:prstGeom>
          <a:solidFill>
            <a:srgbClr val="0D0500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13248" y="777240"/>
            <a:ext cx="1371600" cy="1371600"/>
          </a:xfrm>
          <a:prstGeom prst="rect">
            <a:avLst>
              <a:gd name="adj" fmla="val 12000"/>
            </a:avLst>
          </a:prstGeom>
          <a:solidFill>
            <a:srgbClr val="DF740C"/>
          </a:solidFill>
          <a:ln w="12700">
            <a:solidFill>
              <a:srgbClr val="B85E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13248" y="86868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3200400" y="2286000"/>
            <a:ext cx="5788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200400" y="3017520"/>
            <a:ext cx="5788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2011680" y="4005072"/>
            <a:ext cx="8165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School ERP built on the MERN stack</a:t>
            </a:r>
            <a:endParaRPr lang="en-US" sz="11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attendance, grades, fees, timetables, leave, library, and automated PDF + email workflows.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5120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417320" y="57150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MODELS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926080" y="5303520"/>
            <a:ext cx="9144" cy="4572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5120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37560" y="57150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846320" y="5303520"/>
            <a:ext cx="9144" cy="4572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5120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257800" y="57150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766560" y="5303520"/>
            <a:ext cx="9144" cy="4572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5120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178040" y="57150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8686800" y="5303520"/>
            <a:ext cx="9144" cy="4572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5120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F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098280" y="57150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TYPES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286000" y="6492240"/>
            <a:ext cx="7616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 are happy to walk through any part of the code.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2026-05-07T20:13:25Z</dcterms:created>
  <dcterms:modified xsi:type="dcterms:W3CDTF">2026-05-07T20:13:25Z</dcterms:modified>
</cp:coreProperties>
</file>